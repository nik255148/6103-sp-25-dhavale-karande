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9" r:id="rId4"/>
    <p:sldId id="263" r:id="rId5"/>
    <p:sldId id="262" r:id="rId6"/>
    <p:sldId id="266" r:id="rId7"/>
    <p:sldId id="267" r:id="rId8"/>
    <p:sldId id="268" r:id="rId9"/>
    <p:sldId id="270" r:id="rId10"/>
    <p:sldId id="271" r:id="rId11"/>
    <p:sldId id="272" r:id="rId12"/>
    <p:sldId id="275" r:id="rId13"/>
    <p:sldId id="281" r:id="rId14"/>
    <p:sldId id="282" r:id="rId15"/>
    <p:sldId id="283" r:id="rId16"/>
    <p:sldId id="286" r:id="rId17"/>
    <p:sldId id="28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F3F4A-DC73-796B-B6EB-5A1BFBA075B3}" v="3" dt="2025-12-01T17:16:41.105"/>
    <p1510:client id="{21543BC9-F01D-573B-D8EC-EE213C80182C}" v="11" dt="2025-12-02T04:31:38.078"/>
    <p1510:client id="{29DF734F-677D-976E-CDAF-06855249C021}" v="1084" dt="2025-12-01T00:47:18.838"/>
    <p1510:client id="{65900C91-0FD2-79A3-5E11-865ED9A1AC37}" v="6" dt="2025-12-01T16:37:59.591"/>
    <p1510:client id="{6AED2133-DC28-22B9-9924-BCF70A83C3F1}" v="47" dt="2025-12-01T16:32:05.100"/>
    <p1510:client id="{77A8CE6F-66FA-9257-FF5C-8EDFF68E56D8}" v="85" dt="2025-12-01T16:17:47.370"/>
    <p1510:client id="{8531BCCE-51AB-63C7-E2AD-F7D5B4180372}" v="42" dt="2025-11-30T20:58:32.880"/>
    <p1510:client id="{9F6693F2-732F-91C7-8C90-297357F7136E}" v="5" dt="2025-12-01T03:22:21.005"/>
    <p1510:client id="{EF988158-F062-0C90-A915-4A290384CD39}" v="50" dt="2025-12-02T20:27:39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Nik255148/6103-sp-25-Dhavale-Karande" TargetMode="External"/><Relationship Id="rId1" Type="http://schemas.openxmlformats.org/officeDocument/2006/relationships/hyperlink" Target="https://www.kaggle.com/datasets/shashwatwork/dataco-smart-supply-chain-for-big-data-analysis" TargetMode="Externa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hashwatwork/dataco-smart-supply-chain-for-big-data-analysis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hyperlink" Target="https://github.com/Nik255148/6103-sp-25-Dhavale-Karande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298C84-AB38-413C-8D03-DEAE6245590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47B4C3B-DCC7-4B83-B34E-45E562D279E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Neue Haas Grotesk Text Pro"/>
              <a:hlinkClick xmlns:r="http://schemas.openxmlformats.org/officeDocument/2006/relationships" r:id="rId1"/>
            </a:rPr>
            <a:t>DataCo</a:t>
          </a:r>
          <a:r>
            <a:rPr lang="en-US">
              <a:hlinkClick xmlns:r="http://schemas.openxmlformats.org/officeDocument/2006/relationships" r:id="rId1"/>
            </a:rPr>
            <a:t> SMART SUPPLY CHAIN FOR BIG DATA </a:t>
          </a:r>
          <a:r>
            <a:rPr lang="en-US">
              <a:latin typeface="Neue Haas Grotesk Text Pro"/>
              <a:hlinkClick xmlns:r="http://schemas.openxmlformats.org/officeDocument/2006/relationships" r:id="rId1"/>
            </a:rPr>
            <a:t>ANALYSIS</a:t>
          </a:r>
          <a:endParaRPr lang="en-US"/>
        </a:p>
      </dgm:t>
    </dgm:pt>
    <dgm:pt modelId="{36B7AFEB-B288-46ED-8284-5BE74C79B2FC}" type="parTrans" cxnId="{FA9BB4EE-A919-4844-9D31-536B72D1BEEB}">
      <dgm:prSet/>
      <dgm:spPr/>
      <dgm:t>
        <a:bodyPr/>
        <a:lstStyle/>
        <a:p>
          <a:endParaRPr lang="en-US"/>
        </a:p>
      </dgm:t>
    </dgm:pt>
    <dgm:pt modelId="{EB74F7E0-31BC-4FDB-979F-D5723BE22E8E}" type="sibTrans" cxnId="{FA9BB4EE-A919-4844-9D31-536B72D1BEEB}">
      <dgm:prSet/>
      <dgm:spPr/>
      <dgm:t>
        <a:bodyPr/>
        <a:lstStyle/>
        <a:p>
          <a:endParaRPr lang="en-US"/>
        </a:p>
      </dgm:t>
    </dgm:pt>
    <dgm:pt modelId="{03845110-2D9C-4812-BA82-979A400E3C5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Neue Haas Grotesk Text Pro"/>
              <a:hlinkClick xmlns:r="http://schemas.openxmlformats.org/officeDocument/2006/relationships" r:id="rId2"/>
            </a:rPr>
            <a:t>6102-sp-25-Dhavale-Karande</a:t>
          </a:r>
          <a:endParaRPr lang="en-US"/>
        </a:p>
      </dgm:t>
    </dgm:pt>
    <dgm:pt modelId="{9D6598B1-A69F-4170-BAE5-C524BA9263D1}" type="parTrans" cxnId="{F8F3E8E7-49AC-4FB6-9837-1AA1CEE56BE1}">
      <dgm:prSet/>
      <dgm:spPr/>
      <dgm:t>
        <a:bodyPr/>
        <a:lstStyle/>
        <a:p>
          <a:endParaRPr lang="en-US"/>
        </a:p>
      </dgm:t>
    </dgm:pt>
    <dgm:pt modelId="{99160B0F-6C79-4B46-B2F2-D6C5FE9EFCBB}" type="sibTrans" cxnId="{F8F3E8E7-49AC-4FB6-9837-1AA1CEE56BE1}">
      <dgm:prSet/>
      <dgm:spPr/>
      <dgm:t>
        <a:bodyPr/>
        <a:lstStyle/>
        <a:p>
          <a:endParaRPr lang="en-US"/>
        </a:p>
      </dgm:t>
    </dgm:pt>
    <dgm:pt modelId="{01EB6B51-F37F-4BE4-973B-5EFB42BD8FEA}" type="pres">
      <dgm:prSet presAssocID="{85298C84-AB38-413C-8D03-DEAE6245590F}" presName="root" presStyleCnt="0">
        <dgm:presLayoutVars>
          <dgm:dir/>
          <dgm:resizeHandles val="exact"/>
        </dgm:presLayoutVars>
      </dgm:prSet>
      <dgm:spPr/>
    </dgm:pt>
    <dgm:pt modelId="{6C152560-361A-4AE0-91DA-9DC20B91E010}" type="pres">
      <dgm:prSet presAssocID="{847B4C3B-DCC7-4B83-B34E-45E562D279E1}" presName="compNode" presStyleCnt="0"/>
      <dgm:spPr/>
    </dgm:pt>
    <dgm:pt modelId="{D740DCFA-A77C-466F-84E8-09E38C8566EF}" type="pres">
      <dgm:prSet presAssocID="{847B4C3B-DCC7-4B83-B34E-45E562D279E1}" presName="iconBgRect" presStyleLbl="bgShp" presStyleIdx="0" presStyleCnt="2"/>
      <dgm:spPr/>
    </dgm:pt>
    <dgm:pt modelId="{B754C9C4-6409-4D02-9EF5-61978D67E51C}" type="pres">
      <dgm:prSet presAssocID="{847B4C3B-DCC7-4B83-B34E-45E562D279E1}" presName="iconRect" presStyleLbl="node1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58A174E-C993-4C63-BCB8-75E7867E5D13}" type="pres">
      <dgm:prSet presAssocID="{847B4C3B-DCC7-4B83-B34E-45E562D279E1}" presName="spaceRect" presStyleCnt="0"/>
      <dgm:spPr/>
    </dgm:pt>
    <dgm:pt modelId="{308BE02B-1C11-49CF-9042-D08A30012734}" type="pres">
      <dgm:prSet presAssocID="{847B4C3B-DCC7-4B83-B34E-45E562D279E1}" presName="textRect" presStyleLbl="revTx" presStyleIdx="0" presStyleCnt="2">
        <dgm:presLayoutVars>
          <dgm:chMax val="1"/>
          <dgm:chPref val="1"/>
        </dgm:presLayoutVars>
      </dgm:prSet>
      <dgm:spPr/>
    </dgm:pt>
    <dgm:pt modelId="{A6D5B338-6A4C-49D6-A8FA-07A8EAF28694}" type="pres">
      <dgm:prSet presAssocID="{EB74F7E0-31BC-4FDB-979F-D5723BE22E8E}" presName="sibTrans" presStyleCnt="0"/>
      <dgm:spPr/>
    </dgm:pt>
    <dgm:pt modelId="{28E680F2-3DD4-4A1D-869B-DC91BE198504}" type="pres">
      <dgm:prSet presAssocID="{03845110-2D9C-4812-BA82-979A400E3C51}" presName="compNode" presStyleCnt="0"/>
      <dgm:spPr/>
    </dgm:pt>
    <dgm:pt modelId="{5626EEA8-5707-40F4-B1A2-B12405201F82}" type="pres">
      <dgm:prSet presAssocID="{03845110-2D9C-4812-BA82-979A400E3C51}" presName="iconBgRect" presStyleLbl="bgShp" presStyleIdx="1" presStyleCnt="2"/>
      <dgm:spPr/>
    </dgm:pt>
    <dgm:pt modelId="{D48FDE58-B09B-4DFD-B1EC-A4973AE8E52B}" type="pres">
      <dgm:prSet presAssocID="{03845110-2D9C-4812-BA82-979A400E3C51}" presName="iconRect" presStyleLbl="node1" presStyleIdx="1" presStyleCnt="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2124EBD-5BC1-4E9D-8DE8-823CBAE775DF}" type="pres">
      <dgm:prSet presAssocID="{03845110-2D9C-4812-BA82-979A400E3C51}" presName="spaceRect" presStyleCnt="0"/>
      <dgm:spPr/>
    </dgm:pt>
    <dgm:pt modelId="{769A5679-E631-45F5-87EA-035C99409896}" type="pres">
      <dgm:prSet presAssocID="{03845110-2D9C-4812-BA82-979A400E3C5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32B600A-3703-4A1E-8B25-4D46797332F4}" type="presOf" srcId="{03845110-2D9C-4812-BA82-979A400E3C51}" destId="{769A5679-E631-45F5-87EA-035C99409896}" srcOrd="0" destOrd="0" presId="urn:microsoft.com/office/officeart/2018/5/layout/IconCircleLabelList"/>
    <dgm:cxn modelId="{70DCE868-6304-43CA-96C3-5DB954278E3E}" type="presOf" srcId="{85298C84-AB38-413C-8D03-DEAE6245590F}" destId="{01EB6B51-F37F-4BE4-973B-5EFB42BD8FEA}" srcOrd="0" destOrd="0" presId="urn:microsoft.com/office/officeart/2018/5/layout/IconCircleLabelList"/>
    <dgm:cxn modelId="{ABEB6570-ADB0-4E17-8106-64379BFB90C3}" type="presOf" srcId="{847B4C3B-DCC7-4B83-B34E-45E562D279E1}" destId="{308BE02B-1C11-49CF-9042-D08A30012734}" srcOrd="0" destOrd="0" presId="urn:microsoft.com/office/officeart/2018/5/layout/IconCircleLabelList"/>
    <dgm:cxn modelId="{F8F3E8E7-49AC-4FB6-9837-1AA1CEE56BE1}" srcId="{85298C84-AB38-413C-8D03-DEAE6245590F}" destId="{03845110-2D9C-4812-BA82-979A400E3C51}" srcOrd="1" destOrd="0" parTransId="{9D6598B1-A69F-4170-BAE5-C524BA9263D1}" sibTransId="{99160B0F-6C79-4B46-B2F2-D6C5FE9EFCBB}"/>
    <dgm:cxn modelId="{FA9BB4EE-A919-4844-9D31-536B72D1BEEB}" srcId="{85298C84-AB38-413C-8D03-DEAE6245590F}" destId="{847B4C3B-DCC7-4B83-B34E-45E562D279E1}" srcOrd="0" destOrd="0" parTransId="{36B7AFEB-B288-46ED-8284-5BE74C79B2FC}" sibTransId="{EB74F7E0-31BC-4FDB-979F-D5723BE22E8E}"/>
    <dgm:cxn modelId="{3DB19EDF-D6C5-42AF-898C-8AE35B24B566}" type="presParOf" srcId="{01EB6B51-F37F-4BE4-973B-5EFB42BD8FEA}" destId="{6C152560-361A-4AE0-91DA-9DC20B91E010}" srcOrd="0" destOrd="0" presId="urn:microsoft.com/office/officeart/2018/5/layout/IconCircleLabelList"/>
    <dgm:cxn modelId="{67868DDF-D4FF-4593-B72A-2F3616B44726}" type="presParOf" srcId="{6C152560-361A-4AE0-91DA-9DC20B91E010}" destId="{D740DCFA-A77C-466F-84E8-09E38C8566EF}" srcOrd="0" destOrd="0" presId="urn:microsoft.com/office/officeart/2018/5/layout/IconCircleLabelList"/>
    <dgm:cxn modelId="{B1F7EC3D-EED1-4167-A9A7-917FE250A1D0}" type="presParOf" srcId="{6C152560-361A-4AE0-91DA-9DC20B91E010}" destId="{B754C9C4-6409-4D02-9EF5-61978D67E51C}" srcOrd="1" destOrd="0" presId="urn:microsoft.com/office/officeart/2018/5/layout/IconCircleLabelList"/>
    <dgm:cxn modelId="{0D3FCE5F-1FB2-41DE-957D-C6373904446E}" type="presParOf" srcId="{6C152560-361A-4AE0-91DA-9DC20B91E010}" destId="{658A174E-C993-4C63-BCB8-75E7867E5D13}" srcOrd="2" destOrd="0" presId="urn:microsoft.com/office/officeart/2018/5/layout/IconCircleLabelList"/>
    <dgm:cxn modelId="{DC6DC3DD-88E1-45D8-B4DE-266C42C6B27C}" type="presParOf" srcId="{6C152560-361A-4AE0-91DA-9DC20B91E010}" destId="{308BE02B-1C11-49CF-9042-D08A30012734}" srcOrd="3" destOrd="0" presId="urn:microsoft.com/office/officeart/2018/5/layout/IconCircleLabelList"/>
    <dgm:cxn modelId="{ABD0FA56-11FF-4CB5-9323-BB58CA7537FB}" type="presParOf" srcId="{01EB6B51-F37F-4BE4-973B-5EFB42BD8FEA}" destId="{A6D5B338-6A4C-49D6-A8FA-07A8EAF28694}" srcOrd="1" destOrd="0" presId="urn:microsoft.com/office/officeart/2018/5/layout/IconCircleLabelList"/>
    <dgm:cxn modelId="{3D35BAF2-E284-45C1-B462-4F005CAB921F}" type="presParOf" srcId="{01EB6B51-F37F-4BE4-973B-5EFB42BD8FEA}" destId="{28E680F2-3DD4-4A1D-869B-DC91BE198504}" srcOrd="2" destOrd="0" presId="urn:microsoft.com/office/officeart/2018/5/layout/IconCircleLabelList"/>
    <dgm:cxn modelId="{E3BEA22F-CF57-4481-B069-B90D61AB68C4}" type="presParOf" srcId="{28E680F2-3DD4-4A1D-869B-DC91BE198504}" destId="{5626EEA8-5707-40F4-B1A2-B12405201F82}" srcOrd="0" destOrd="0" presId="urn:microsoft.com/office/officeart/2018/5/layout/IconCircleLabelList"/>
    <dgm:cxn modelId="{FDCF1409-8D31-4EA3-B05A-3A3D3B11AD68}" type="presParOf" srcId="{28E680F2-3DD4-4A1D-869B-DC91BE198504}" destId="{D48FDE58-B09B-4DFD-B1EC-A4973AE8E52B}" srcOrd="1" destOrd="0" presId="urn:microsoft.com/office/officeart/2018/5/layout/IconCircleLabelList"/>
    <dgm:cxn modelId="{8BC30AB0-25BE-4392-B3D7-0E131025D692}" type="presParOf" srcId="{28E680F2-3DD4-4A1D-869B-DC91BE198504}" destId="{52124EBD-5BC1-4E9D-8DE8-823CBAE775DF}" srcOrd="2" destOrd="0" presId="urn:microsoft.com/office/officeart/2018/5/layout/IconCircleLabelList"/>
    <dgm:cxn modelId="{053164D8-3EB3-4DC0-A8A0-82178724181B}" type="presParOf" srcId="{28E680F2-3DD4-4A1D-869B-DC91BE198504}" destId="{769A5679-E631-45F5-87EA-035C9940989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0DCFA-A77C-466F-84E8-09E38C8566EF}">
      <dsp:nvSpPr>
        <dsp:cNvPr id="0" name=""/>
        <dsp:cNvSpPr/>
      </dsp:nvSpPr>
      <dsp:spPr>
        <a:xfrm>
          <a:off x="1954675" y="233215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4C9C4-6409-4D02-9EF5-61978D67E51C}">
      <dsp:nvSpPr>
        <dsp:cNvPr id="0" name=""/>
        <dsp:cNvSpPr/>
      </dsp:nvSpPr>
      <dsp:spPr>
        <a:xfrm>
          <a:off x="2422675" y="701215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BE02B-1C11-49CF-9042-D08A30012734}">
      <dsp:nvSpPr>
        <dsp:cNvPr id="0" name=""/>
        <dsp:cNvSpPr/>
      </dsp:nvSpPr>
      <dsp:spPr>
        <a:xfrm>
          <a:off x="1252675" y="311321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>
              <a:latin typeface="Neue Haas Grotesk Text Pro"/>
              <a:hlinkClick xmlns:r="http://schemas.openxmlformats.org/officeDocument/2006/relationships" r:id="rId3"/>
            </a:rPr>
            <a:t>DataCo</a:t>
          </a:r>
          <a:r>
            <a:rPr lang="en-US" sz="1700" kern="1200">
              <a:hlinkClick xmlns:r="http://schemas.openxmlformats.org/officeDocument/2006/relationships" r:id="rId3"/>
            </a:rPr>
            <a:t> SMART SUPPLY CHAIN FOR BIG DATA </a:t>
          </a:r>
          <a:r>
            <a:rPr lang="en-US" sz="1700" kern="1200">
              <a:latin typeface="Neue Haas Grotesk Text Pro"/>
              <a:hlinkClick xmlns:r="http://schemas.openxmlformats.org/officeDocument/2006/relationships" r:id="rId3"/>
            </a:rPr>
            <a:t>ANALYSIS</a:t>
          </a:r>
          <a:endParaRPr lang="en-US" sz="1700" kern="1200"/>
        </a:p>
      </dsp:txBody>
      <dsp:txXfrm>
        <a:off x="1252675" y="3113215"/>
        <a:ext cx="3600000" cy="720000"/>
      </dsp:txXfrm>
    </dsp:sp>
    <dsp:sp modelId="{5626EEA8-5707-40F4-B1A2-B12405201F82}">
      <dsp:nvSpPr>
        <dsp:cNvPr id="0" name=""/>
        <dsp:cNvSpPr/>
      </dsp:nvSpPr>
      <dsp:spPr>
        <a:xfrm>
          <a:off x="6184675" y="233215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FDE58-B09B-4DFD-B1EC-A4973AE8E52B}">
      <dsp:nvSpPr>
        <dsp:cNvPr id="0" name=""/>
        <dsp:cNvSpPr/>
      </dsp:nvSpPr>
      <dsp:spPr>
        <a:xfrm>
          <a:off x="6652675" y="701215"/>
          <a:ext cx="1260000" cy="126000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A5679-E631-45F5-87EA-035C99409896}">
      <dsp:nvSpPr>
        <dsp:cNvPr id="0" name=""/>
        <dsp:cNvSpPr/>
      </dsp:nvSpPr>
      <dsp:spPr>
        <a:xfrm>
          <a:off x="5482675" y="311321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>
              <a:latin typeface="Neue Haas Grotesk Text Pro"/>
              <a:hlinkClick xmlns:r="http://schemas.openxmlformats.org/officeDocument/2006/relationships" r:id="rId6"/>
            </a:rPr>
            <a:t>6102-sp-25-Dhavale-Karande</a:t>
          </a:r>
          <a:endParaRPr lang="en-US" sz="1700" kern="1200"/>
        </a:p>
      </dsp:txBody>
      <dsp:txXfrm>
        <a:off x="5482675" y="311321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6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0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3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4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7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4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1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US" sz="3400">
                <a:ea typeface="+mj-lt"/>
                <a:cs typeface="+mj-lt"/>
              </a:rPr>
              <a:t>OPTIMIZING SUPPLY CHAIN AND SALES PERFORMANCE </a:t>
            </a:r>
            <a:endParaRPr lang="en-US" sz="3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r">
              <a:buFont typeface="Calibri" panose="020B0604020202020204" pitchFamily="34" charset="0"/>
              <a:buChar char="-"/>
            </a:pPr>
            <a:r>
              <a:rPr lang="en-US"/>
              <a:t>Nikhilesh </a:t>
            </a:r>
            <a:r>
              <a:rPr lang="en-US" err="1"/>
              <a:t>Dhavale</a:t>
            </a:r>
            <a:endParaRPr lang="en-US"/>
          </a:p>
          <a:p>
            <a:pPr marL="285750" indent="-285750" algn="r">
              <a:buFont typeface="Calibri" panose="020B0604020202020204" pitchFamily="34" charset="0"/>
              <a:buChar char="-"/>
            </a:pPr>
            <a:r>
              <a:rPr lang="en-US"/>
              <a:t>Aditya </a:t>
            </a:r>
            <a:r>
              <a:rPr lang="en-US" err="1"/>
              <a:t>Karande</a:t>
            </a:r>
          </a:p>
        </p:txBody>
      </p:sp>
      <p:pic>
        <p:nvPicPr>
          <p:cNvPr id="4" name="Picture 3" descr="Graph">
            <a:extLst>
              <a:ext uri="{FF2B5EF4-FFF2-40B4-BE49-F238E27FC236}">
                <a16:creationId xmlns:a16="http://schemas.microsoft.com/office/drawing/2014/main" id="{EB78047A-DBCF-AF6E-54B7-AC53C94B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72" r="17685" b="4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B295F-61B6-05AF-1B3D-69BE838A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DATASET &amp; </a:t>
            </a:r>
            <a:r>
              <a:rPr lang="en-US" err="1"/>
              <a:t>GITHUB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C7C0D171-A94B-53E9-F964-AB244376B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20165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579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66220-31B2-C70A-7A0E-3CB35559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C32D5-A641-FEB0-71EC-95CFAE4D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INTRODUCTION</a:t>
            </a:r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C309A92D-F928-D86B-7ACC-4265FC31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16E20152-1131-4309-6BF2-EEF1B8354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Timely deliveries are critical for customer satisfaction and revenue.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Supply chain delays impact cost, efficiency, and brand reputation.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Goal: Apply statistical analysis and machine learning to identify patterns linked to late deliveries..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Develop predictive models to determine whether an order will be late or on-time.</a:t>
            </a:r>
          </a:p>
        </p:txBody>
      </p:sp>
    </p:spTree>
    <p:extLst>
      <p:ext uri="{BB962C8B-B14F-4D97-AF65-F5344CB8AC3E}">
        <p14:creationId xmlns:p14="http://schemas.microsoft.com/office/powerpoint/2010/main" val="6436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2B301-ECFB-24E0-8FD7-0DC64B75E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187CF2C-543F-EC05-A2B9-9812887FA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C429A-49B2-0FF8-2863-0E0C7CF4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DATASET OVERVIEW</a:t>
            </a:r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A9590B02-45D1-6A85-0EE9-06FE19DC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0886400-425E-7504-5848-BADD9F5BE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Source: </a:t>
            </a:r>
            <a:r>
              <a:rPr lang="en-US" sz="1800" err="1">
                <a:solidFill>
                  <a:srgbClr val="000000"/>
                </a:solidFill>
                <a:ea typeface="+mn-lt"/>
                <a:cs typeface="+mn-lt"/>
              </a:rPr>
              <a:t>DataCo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 Supply Chain dataset.</a:t>
            </a:r>
          </a:p>
          <a:p>
            <a:r>
              <a:rPr lang="en-US" sz="1800">
                <a:ea typeface="+mn-lt"/>
                <a:cs typeface="+mn-lt"/>
              </a:rPr>
              <a:t>Records: 180,519</a:t>
            </a:r>
          </a:p>
          <a:p>
            <a:r>
              <a:rPr lang="en-US" sz="1800">
                <a:ea typeface="+mn-lt"/>
                <a:cs typeface="+mn-lt"/>
              </a:rPr>
              <a:t>Columns: 51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Data categories: Customer details, Product details, Order and shipping details, Geographic markets &amp; regions.</a:t>
            </a:r>
          </a:p>
          <a:p>
            <a:r>
              <a:rPr lang="en-US" sz="1800">
                <a:ea typeface="+mn-lt"/>
                <a:cs typeface="+mn-lt"/>
              </a:rPr>
              <a:t>Target variable: </a:t>
            </a:r>
            <a:r>
              <a:rPr lang="en-US" sz="1800" err="1">
                <a:ea typeface="+mn-lt"/>
                <a:cs typeface="+mn-lt"/>
              </a:rPr>
              <a:t>Late_delivery_risk</a:t>
            </a:r>
            <a:r>
              <a:rPr lang="en-US" sz="1800">
                <a:ea typeface="+mn-lt"/>
                <a:cs typeface="+mn-lt"/>
              </a:rPr>
              <a:t> (0 = on-time, 1 = late).</a:t>
            </a:r>
          </a:p>
          <a:p>
            <a:r>
              <a:rPr lang="en-US" sz="1800">
                <a:ea typeface="+mn-lt"/>
                <a:cs typeface="+mn-lt"/>
              </a:rPr>
              <a:t>Target Variable Distribution: Binary variable with ~55% late and ~45% on-time orders, No major class imbalance,.</a:t>
            </a:r>
          </a:p>
        </p:txBody>
      </p:sp>
    </p:spTree>
    <p:extLst>
      <p:ext uri="{BB962C8B-B14F-4D97-AF65-F5344CB8AC3E}">
        <p14:creationId xmlns:p14="http://schemas.microsoft.com/office/powerpoint/2010/main" val="225337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CD16E-DF67-A527-9C8E-415DE40E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DEB9F0D-BB3F-14ED-58AC-69C9654F8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06DDD-1113-7EB1-E597-DC244F9F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OBJECTIVE</a:t>
            </a:r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342C5353-3389-91C4-D82D-A4D1B2ED2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944B0682-2DDB-4EA6-EB77-4E6B9E56A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To Predict whether an order will result in a late delivery or an on-time delivery using customer, product, and shipping features?</a:t>
            </a:r>
          </a:p>
          <a:p>
            <a:r>
              <a:rPr lang="en-US" sz="1800">
                <a:ea typeface="+mn-lt"/>
                <a:cs typeface="+mn-lt"/>
              </a:rPr>
              <a:t>Measurable: Evaluate with accuracy, precision, recall, ROC-AUC.</a:t>
            </a:r>
          </a:p>
          <a:p>
            <a:r>
              <a:rPr lang="en-US" sz="1800">
                <a:ea typeface="+mn-lt"/>
                <a:cs typeface="+mn-lt"/>
              </a:rPr>
              <a:t>Achievable: Large dataset (180k+ rows) with rich shipping details.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Relevant: Helps improve delivery commitments and logistics planning.</a:t>
            </a:r>
          </a:p>
        </p:txBody>
      </p:sp>
    </p:spTree>
    <p:extLst>
      <p:ext uri="{BB962C8B-B14F-4D97-AF65-F5344CB8AC3E}">
        <p14:creationId xmlns:p14="http://schemas.microsoft.com/office/powerpoint/2010/main" val="319418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10D7A-8F63-6C37-0821-3C3BE1B3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C5FCA38-32CD-5920-CA77-9AFC140E7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33D5A-A674-25F6-DB4E-2D617D43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32" y="3743325"/>
            <a:ext cx="4417231" cy="2337393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EXPLORATORY DATA ANALYSIS</a:t>
            </a:r>
            <a:endParaRPr lang="en-US"/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0B0AF931-D025-F7B7-2AC6-01ACAC3ED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2" b="19187"/>
          <a:stretch>
            <a:fillRect/>
          </a:stretch>
        </p:blipFill>
        <p:spPr>
          <a:xfrm>
            <a:off x="20" y="1"/>
            <a:ext cx="6071587" cy="342900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24429CFB-FBC7-38DF-6302-476A33360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243" y="509589"/>
            <a:ext cx="5688283" cy="24088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u="sng"/>
              <a:t>Shipping Mode vs Late Delivery Risk:</a:t>
            </a:r>
            <a:r>
              <a:rPr lang="en-US" sz="1600"/>
              <a:t> </a:t>
            </a:r>
          </a:p>
          <a:p>
            <a:pPr marL="285750" indent="-285750">
              <a:lnSpc>
                <a:spcPct val="110000"/>
              </a:lnSpc>
            </a:pPr>
            <a:r>
              <a:rPr lang="en-US" sz="1300"/>
              <a:t>Standard Class shows the highest late-delivery rate. </a:t>
            </a:r>
          </a:p>
          <a:p>
            <a:pPr marL="285750" indent="-285750">
              <a:lnSpc>
                <a:spcPct val="110000"/>
              </a:lnSpc>
            </a:pPr>
            <a:r>
              <a:rPr lang="en-US" sz="1300"/>
              <a:t>First Class and Second Class also show a large proportion of late deliveries. </a:t>
            </a:r>
          </a:p>
          <a:p>
            <a:pPr marL="285750" indent="-285750">
              <a:lnSpc>
                <a:spcPct val="110000"/>
              </a:lnSpc>
            </a:pPr>
            <a:r>
              <a:rPr lang="en-US" sz="1300"/>
              <a:t>Same Day shipping is the most reliable, with very few late deliveries. </a:t>
            </a:r>
          </a:p>
          <a:p>
            <a:pPr marL="285750" indent="-285750">
              <a:lnSpc>
                <a:spcPct val="110000"/>
              </a:lnSpc>
            </a:pPr>
            <a:r>
              <a:rPr lang="en-US" sz="1300"/>
              <a:t>Shipping mode is a strong operational factor in delivery performance.</a:t>
            </a:r>
          </a:p>
        </p:txBody>
      </p:sp>
      <p:pic>
        <p:nvPicPr>
          <p:cNvPr id="4" name="Picture 3" descr="A graph of a shipping mode&#10;&#10;AI-generated content may be incorrect.">
            <a:extLst>
              <a:ext uri="{FF2B5EF4-FFF2-40B4-BE49-F238E27FC236}">
                <a16:creationId xmlns:a16="http://schemas.microsoft.com/office/drawing/2014/main" id="{0EE5ABE5-68DA-7CED-5C7B-8BEC5CBFB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238" y="3429000"/>
            <a:ext cx="596265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6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2F566-0D30-C04D-F24D-1B7EFCBB4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83B883FC-F62A-A167-8D71-CA4E64DD2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35810-1D6F-0FDA-1027-AD88C02A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32" y="3743325"/>
            <a:ext cx="4417231" cy="2337393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EXPLORATORY DATA ANALYSIS</a:t>
            </a:r>
            <a:endParaRPr lang="en-US"/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2F94F9B0-ADDB-7889-5ACD-5E1996748F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2" b="19187"/>
          <a:stretch>
            <a:fillRect/>
          </a:stretch>
        </p:blipFill>
        <p:spPr>
          <a:xfrm>
            <a:off x="20" y="1"/>
            <a:ext cx="6071587" cy="342900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568FEA1-6B28-DA89-27F5-B4743C986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243" y="509589"/>
            <a:ext cx="5688283" cy="24088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u="sng">
                <a:ea typeface="+mn-lt"/>
                <a:cs typeface="+mn-lt"/>
              </a:rPr>
              <a:t>Delivery Days Comparison:</a:t>
            </a:r>
            <a:r>
              <a:rPr lang="en-US" sz="1600"/>
              <a:t> </a:t>
            </a:r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Late deliveries have noticeably higher delivery-day values.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On-time orders cluster around lower delivery days with a tighter spread.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Late orders show both higher median and wider variability in delivery duration.</a:t>
            </a:r>
            <a:endParaRPr lang="en-US"/>
          </a:p>
          <a:p>
            <a:pPr marL="285750" indent="-285750"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Indicates that total delivery time is a strong driver of late delivery risk.</a:t>
            </a:r>
            <a:endParaRPr lang="en-US"/>
          </a:p>
        </p:txBody>
      </p:sp>
      <p:pic>
        <p:nvPicPr>
          <p:cNvPr id="3" name="Picture 2" descr="A diagram of a delivery risk&#10;&#10;AI-generated content may be incorrect.">
            <a:extLst>
              <a:ext uri="{FF2B5EF4-FFF2-40B4-BE49-F238E27FC236}">
                <a16:creationId xmlns:a16="http://schemas.microsoft.com/office/drawing/2014/main" id="{EFD68DDD-EAD9-715C-E0E4-F8DB44F43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377" y="3431800"/>
            <a:ext cx="6114302" cy="342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0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50485-76D6-10CD-C2D1-E991A136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C0593CA1-5F18-92B7-B593-E06AEB0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870D0-450C-31A6-D142-B698BAC63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32" y="3743325"/>
            <a:ext cx="4417231" cy="2337393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EXPLORATORY DATA ANALYSIS</a:t>
            </a:r>
            <a:endParaRPr lang="en-US"/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56618A62-11AA-C55B-1AAC-4F701449B9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2" b="19187"/>
          <a:stretch>
            <a:fillRect/>
          </a:stretch>
        </p:blipFill>
        <p:spPr>
          <a:xfrm>
            <a:off x="20" y="1"/>
            <a:ext cx="6071587" cy="342900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0D068C9-47DF-9806-A078-BB5CA733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243" y="509589"/>
            <a:ext cx="5688283" cy="24088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u="sng">
                <a:ea typeface="+mn-lt"/>
                <a:cs typeface="+mn-lt"/>
              </a:rPr>
              <a:t>Correlation Heatmap:</a:t>
            </a:r>
            <a:r>
              <a:rPr lang="en-US" sz="1600"/>
              <a:t> 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Strong correlations among shipping-related variables: </a:t>
            </a:r>
            <a:r>
              <a:rPr lang="en-US" sz="1300" err="1">
                <a:ea typeface="+mn-lt"/>
                <a:cs typeface="+mn-lt"/>
              </a:rPr>
              <a:t>delivery_days</a:t>
            </a:r>
            <a:r>
              <a:rPr lang="en-US" sz="1300">
                <a:ea typeface="+mn-lt"/>
                <a:cs typeface="+mn-lt"/>
              </a:rPr>
              <a:t>, </a:t>
            </a:r>
            <a:r>
              <a:rPr lang="en-US" sz="1300" err="1">
                <a:ea typeface="+mn-lt"/>
                <a:cs typeface="+mn-lt"/>
              </a:rPr>
              <a:t>delay_vs_schedule</a:t>
            </a:r>
            <a:r>
              <a:rPr lang="en-US" sz="1300">
                <a:ea typeface="+mn-lt"/>
                <a:cs typeface="+mn-lt"/>
              </a:rPr>
              <a:t>, Days for shipping (real).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Customer and product variables show weak association.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300">
                <a:ea typeface="+mn-lt"/>
                <a:cs typeface="+mn-lt"/>
              </a:rPr>
              <a:t>Confirms importance of operational timing for predictive modeling.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7AB7265-100F-9A49-88D1-BB2919E09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752" y="3406355"/>
            <a:ext cx="6129789" cy="345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6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BA3E3-9976-9DDF-7885-697ADEEE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EF68B-055D-7DB3-5981-8141FC15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HYPOTHESIS TESTING</a:t>
            </a:r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431C612B-FC59-5090-BBBD-20A7742D9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AF121262-01A1-8960-8BF2-E7F9054A4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u="sng">
                <a:ea typeface="+mn-lt"/>
                <a:cs typeface="+mn-lt"/>
              </a:rPr>
              <a:t>t-Test: Delivery Days (Late vs On-Time):</a:t>
            </a:r>
          </a:p>
          <a:p>
            <a:pPr marL="285750" indent="-285750"/>
            <a:r>
              <a:rPr lang="en-US" sz="1800"/>
              <a:t>Late orders have significantly higher delivery days than on-time orders.</a:t>
            </a:r>
          </a:p>
          <a:p>
            <a:pPr marL="285750" indent="-285750"/>
            <a:r>
              <a:rPr lang="en-US" sz="1800"/>
              <a:t>Result: p &lt; 0.05 → strong evidence of difference.</a:t>
            </a:r>
          </a:p>
          <a:p>
            <a:pPr marL="285750" indent="-285750"/>
            <a:r>
              <a:rPr lang="en-US" sz="1800"/>
              <a:t>Interpretation: Shipping duration strongly affects late delivery risk.</a:t>
            </a:r>
          </a:p>
        </p:txBody>
      </p:sp>
    </p:spTree>
    <p:extLst>
      <p:ext uri="{BB962C8B-B14F-4D97-AF65-F5344CB8AC3E}">
        <p14:creationId xmlns:p14="http://schemas.microsoft.com/office/powerpoint/2010/main" val="117077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346AF-7697-2C78-2B1E-B35B71E0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9D4B7814-43B8-4D46-5849-8E7ED26FB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8E461-7820-9121-FBF3-6B2115631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HYPOTHESIS TESTING</a:t>
            </a:r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D04C7346-DE44-1CB7-C8E5-292B192D30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309E83F-DF52-4264-D25D-BDF504358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u="sng">
                <a:solidFill>
                  <a:srgbClr val="000000"/>
                </a:solidFill>
              </a:rPr>
              <a:t>Chi-Square Test: Shipping Mode vs Late Delivery Risk</a:t>
            </a:r>
            <a:r>
              <a:rPr lang="en-US" sz="1800" u="sng">
                <a:ea typeface="+mn-lt"/>
                <a:cs typeface="+mn-lt"/>
              </a:rPr>
              <a:t>:</a:t>
            </a:r>
            <a:endParaRPr lang="en-US"/>
          </a:p>
          <a:p>
            <a:pPr marL="285750" indent="-285750"/>
            <a:r>
              <a:rPr lang="en-US" sz="1800">
                <a:ea typeface="+mn-lt"/>
                <a:cs typeface="+mn-lt"/>
              </a:rPr>
              <a:t>Shipping mode and late delivery risk are statistically associated.</a:t>
            </a:r>
          </a:p>
          <a:p>
            <a:pPr marL="285750" indent="-285750"/>
            <a:r>
              <a:rPr lang="en-US" sz="1800">
                <a:ea typeface="+mn-lt"/>
                <a:cs typeface="+mn-lt"/>
              </a:rPr>
              <a:t>Result: p &lt; 0.05 → dependency confirmed.</a:t>
            </a:r>
            <a:endParaRPr lang="en-US"/>
          </a:p>
          <a:p>
            <a:pPr marL="285750" indent="-285750"/>
            <a:r>
              <a:rPr lang="en-US" sz="1800">
                <a:ea typeface="+mn-lt"/>
                <a:cs typeface="+mn-lt"/>
              </a:rPr>
              <a:t>Interpretation: Shipping mode impacts whether an order arrives late.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2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92C3B-964B-DF33-39BB-8BFFD02C7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3AD1A646-FC24-CF98-1521-DBFC14396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322A7-3FDF-C6E1-9D8B-F99A9D7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HYPOTHESIS TESTING</a:t>
            </a:r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5E5FC0C9-D977-C1E0-1E69-97C8D313E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9569DD98-5A14-9F31-21E8-0EFB00852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u="sng">
                <a:ea typeface="+mn-lt"/>
                <a:cs typeface="+mn-lt"/>
              </a:rPr>
              <a:t>ANOVA: Delivery Time Across Shipping Modes:</a:t>
            </a:r>
            <a:endParaRPr lang="en-US"/>
          </a:p>
          <a:p>
            <a:pPr marL="285750" indent="-285750"/>
            <a:r>
              <a:rPr lang="en-US" sz="1800">
                <a:ea typeface="+mn-lt"/>
                <a:cs typeface="+mn-lt"/>
              </a:rPr>
              <a:t>Shipping mode and late delivery risk are statistically associated.</a:t>
            </a:r>
          </a:p>
          <a:p>
            <a:pPr marL="285750" indent="-285750"/>
            <a:r>
              <a:rPr lang="en-US" sz="1800">
                <a:ea typeface="+mn-lt"/>
                <a:cs typeface="+mn-lt"/>
              </a:rPr>
              <a:t>Result: p &lt; 0.05 → dependency confirmed.</a:t>
            </a:r>
            <a:endParaRPr lang="en-US"/>
          </a:p>
          <a:p>
            <a:pPr marL="285750" indent="-285750"/>
            <a:r>
              <a:rPr lang="en-US" sz="1800">
                <a:ea typeface="+mn-lt"/>
                <a:cs typeface="+mn-lt"/>
              </a:rPr>
              <a:t>Interpretation: Shipping mode impacts whether an order arrives late.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95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D971C-76BB-07CB-1DAB-B9BBAFF1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BADAD6C9-92AC-48EB-33C6-F74E3533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9D202-8C8D-2BBC-FFAB-1B080019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32" y="3743325"/>
            <a:ext cx="4417231" cy="2337393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PRINCIPAL COMPONENT ANALYSIS (PCA)</a:t>
            </a:r>
            <a:endParaRPr lang="en-US"/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07126558-8636-D9BB-121D-424F440023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2" b="19187"/>
          <a:stretch>
            <a:fillRect/>
          </a:stretch>
        </p:blipFill>
        <p:spPr>
          <a:xfrm>
            <a:off x="20" y="1"/>
            <a:ext cx="6071587" cy="3429000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1C27434-0BA3-7AAA-5833-925CD3246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7841119"/>
              </p:ext>
            </p:extLst>
          </p:nvPr>
        </p:nvGraphicFramePr>
        <p:xfrm>
          <a:off x="6499410" y="724647"/>
          <a:ext cx="52523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6190">
                  <a:extLst>
                    <a:ext uri="{9D8B030D-6E8A-4147-A177-3AD203B41FA5}">
                      <a16:colId xmlns:a16="http://schemas.microsoft.com/office/drawing/2014/main" val="104410138"/>
                    </a:ext>
                  </a:extLst>
                </a:gridCol>
                <a:gridCol w="2626190">
                  <a:extLst>
                    <a:ext uri="{9D8B030D-6E8A-4147-A177-3AD203B41FA5}">
                      <a16:colId xmlns:a16="http://schemas.microsoft.com/office/drawing/2014/main" val="718379528"/>
                    </a:ext>
                  </a:extLst>
                </a:gridCol>
              </a:tblGrid>
              <a:tr h="44794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Principal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baseline="0" noProof="0">
                          <a:solidFill>
                            <a:srgbClr val="FFFFFF"/>
                          </a:solidFill>
                          <a:latin typeface="Neue Haas Grotesk Text Pro"/>
                        </a:rPr>
                        <a:t>Top Contributing Features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367669"/>
                  </a:ext>
                </a:extLst>
              </a:tr>
              <a:tr h="447947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Sales, Product Price, Order Item Total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78590"/>
                  </a:ext>
                </a:extLst>
              </a:tr>
              <a:tr h="447947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Profit Ratio, Benefit per Order, Discount Rate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472565"/>
                  </a:ext>
                </a:extLst>
              </a:tr>
              <a:tr h="447947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Delivery Days, Delay vs Schedule, Days for Shipping (Real)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39806"/>
                  </a:ext>
                </a:extLst>
              </a:tr>
            </a:tbl>
          </a:graphicData>
        </a:graphic>
      </p:graphicFrame>
      <p:pic>
        <p:nvPicPr>
          <p:cNvPr id="9" name="Picture 8" descr="A graph with a line graph&#10;&#10;AI-generated content may be incorrect.">
            <a:extLst>
              <a:ext uri="{FF2B5EF4-FFF2-40B4-BE49-F238E27FC236}">
                <a16:creationId xmlns:a16="http://schemas.microsoft.com/office/drawing/2014/main" id="{84820919-6C44-07CE-9D1B-DF702317F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390" y="3426198"/>
            <a:ext cx="6112808" cy="345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10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E7D46-B16E-4210-AAB3-0D751244C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DE256551-6FD7-E1D4-CA60-FC23D62FF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A36A9-ABA5-047B-E0E7-EA861079E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LOGISTIC REGRESSION</a:t>
            </a:r>
            <a:endParaRPr lang="en-US"/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ABACCB20-A4B6-04A3-A4A1-662E67940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A89D8283-4E82-3FC7-16D2-4CF68BD21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Accuracy: 97.44%</a:t>
            </a:r>
            <a:endParaRPr lang="en-US" sz="1800"/>
          </a:p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ROC–AUC    : 0.972</a:t>
            </a:r>
            <a:endParaRPr lang="en-US" sz="1800"/>
          </a:p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F1 Score: High for both classes</a:t>
            </a:r>
            <a:endParaRPr lang="en-US" sz="1800"/>
          </a:p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Recall    : 1.00, almost all late deliveries correctly identified.</a:t>
            </a:r>
            <a:endParaRPr lang="en-US" sz="1800"/>
          </a:p>
          <a:p>
            <a:pPr>
              <a:lnSpc>
                <a:spcPct val="90000"/>
              </a:lnSpc>
            </a:pPr>
            <a:r>
              <a:rPr lang="en-US" sz="1800"/>
              <a:t>Model correctly identifies 19,796 late deliveries showing very high true positive performance. </a:t>
            </a:r>
          </a:p>
          <a:p>
            <a:pPr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Model predicts 0 false negatives and 922 false positives.</a:t>
            </a:r>
            <a:endParaRPr lang="en-US" sz="1800"/>
          </a:p>
          <a:p>
            <a:pPr marL="0" indent="0">
              <a:lnSpc>
                <a:spcPct val="90000"/>
              </a:lnSpc>
              <a:buNone/>
            </a:pPr>
            <a:endParaRPr lang="en-US" sz="1800"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</a:pPr>
            <a:endParaRPr lang="en-US" sz="1800"/>
          </a:p>
          <a:p>
            <a:pPr marL="285750" indent="-285750">
              <a:lnSpc>
                <a:spcPct val="90000"/>
              </a:lnSpc>
            </a:pPr>
            <a:endParaRPr lang="en-US" sz="1800"/>
          </a:p>
          <a:p>
            <a:pPr marL="285750" indent="-285750">
              <a:lnSpc>
                <a:spcPct val="90000"/>
              </a:lnSpc>
            </a:pPr>
            <a:endParaRPr lang="en-US"/>
          </a:p>
        </p:txBody>
      </p:sp>
      <p:pic>
        <p:nvPicPr>
          <p:cNvPr id="3" name="Picture 2" descr="A graph showing the difference between a logistic and a logistic regression&#10;&#10;AI-generated content may be incorrect.">
            <a:extLst>
              <a:ext uri="{FF2B5EF4-FFF2-40B4-BE49-F238E27FC236}">
                <a16:creationId xmlns:a16="http://schemas.microsoft.com/office/drawing/2014/main" id="{46AAAD16-6601-7B50-E8C1-326122F2F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8" y="409575"/>
            <a:ext cx="3876675" cy="290512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4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332E7BDB-604E-FF6F-0141-0A161E0EC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89" y="3623530"/>
            <a:ext cx="3850300" cy="284651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3737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BB7D4-DE13-7DBB-CF27-07AAA4C4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22B77E74-677F-1149-6832-57C40F663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6E942-819F-0F68-407F-59CDD698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RANDOM FOREST CLASSIFIER</a:t>
            </a:r>
            <a:endParaRPr lang="en-US"/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2027C4F9-1E17-E780-150F-B4177954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F9D989F8-BF1C-3C52-3003-45CA3472B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Accuracy: 97.46%</a:t>
            </a:r>
            <a:endParaRPr lang="en-US" sz="1800"/>
          </a:p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ROC–AUC    : 0.979</a:t>
            </a:r>
            <a:endParaRPr lang="en-US" sz="1800"/>
          </a:p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F1 Score: High for both classes</a:t>
            </a:r>
            <a:endParaRPr lang="en-US" sz="1800"/>
          </a:p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Recall    : 1.00, almost all late deliveries correctly identified.</a:t>
            </a:r>
            <a:endParaRPr lang="en-US" sz="1800"/>
          </a:p>
          <a:p>
            <a:pPr>
              <a:lnSpc>
                <a:spcPct val="90000"/>
              </a:lnSpc>
            </a:pPr>
            <a:r>
              <a:rPr lang="en-US" sz="1800"/>
              <a:t>Model correctly identifies 19,796 late deliveries showing very high true positive performance. </a:t>
            </a:r>
          </a:p>
          <a:p>
            <a:pPr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Model predicts 0 false negatives and 922 false positives.</a:t>
            </a:r>
            <a:endParaRPr lang="en-US" sz="1800"/>
          </a:p>
          <a:p>
            <a:pPr marL="0" indent="0">
              <a:lnSpc>
                <a:spcPct val="90000"/>
              </a:lnSpc>
              <a:buNone/>
            </a:pPr>
            <a:endParaRPr lang="en-US" sz="1800"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</a:pPr>
            <a:endParaRPr lang="en-US" sz="1800"/>
          </a:p>
          <a:p>
            <a:pPr marL="285750" indent="-285750">
              <a:lnSpc>
                <a:spcPct val="90000"/>
              </a:lnSpc>
            </a:pPr>
            <a:endParaRPr lang="en-US" sz="1800"/>
          </a:p>
          <a:p>
            <a:pPr marL="285750" indent="-285750">
              <a:lnSpc>
                <a:spcPct val="90000"/>
              </a:lnSpc>
            </a:pPr>
            <a:endParaRPr lang="en-US"/>
          </a:p>
        </p:txBody>
      </p:sp>
      <p:pic>
        <p:nvPicPr>
          <p:cNvPr id="4" name="Picture 3" descr="A graph of a curve&#10;&#10;AI-generated content may be incorrect.">
            <a:extLst>
              <a:ext uri="{FF2B5EF4-FFF2-40B4-BE49-F238E27FC236}">
                <a16:creationId xmlns:a16="http://schemas.microsoft.com/office/drawing/2014/main" id="{0227C8D0-759B-263A-DE95-DCB9CF2C1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09" y="3623719"/>
            <a:ext cx="3868556" cy="294183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B8AD9E07-AEAB-3C0B-2FB2-C5B2DEA47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13" y="361949"/>
            <a:ext cx="3880038" cy="286310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5385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4653D-E3EF-AFBA-B3DB-49FCAB88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823B920C-E80D-12D0-9F39-31AFF9884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6AF81-D66F-A79D-4654-7485F482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MODEL COMPARISION</a:t>
            </a:r>
            <a:endParaRPr lang="en-US"/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23DCD1FD-EA7E-1AD1-E428-8C060B3872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B7FBFE4-B144-8378-59D7-F5E8BF58B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800" u="sng">
                <a:ea typeface="+mn-lt"/>
                <a:cs typeface="+mn-lt"/>
              </a:rPr>
              <a:t>Logistic</a:t>
            </a:r>
            <a:r>
              <a:rPr lang="en-US" sz="1800" u="sng"/>
              <a:t> Regression</a:t>
            </a:r>
            <a:endParaRPr lang="en-US"/>
          </a:p>
          <a:p>
            <a:pPr marL="285750" indent="-285750">
              <a:lnSpc>
                <a:spcPct val="70000"/>
              </a:lnSpc>
            </a:pPr>
            <a:r>
              <a:rPr lang="en-US" sz="1800"/>
              <a:t>Accuracy: 97.44%</a:t>
            </a:r>
            <a:endParaRPr lang="en-US"/>
          </a:p>
          <a:p>
            <a:pPr marL="285750" indent="-285750">
              <a:lnSpc>
                <a:spcPct val="70000"/>
              </a:lnSpc>
            </a:pPr>
            <a:r>
              <a:rPr lang="en-US" sz="1800"/>
              <a:t>ROC–</a:t>
            </a:r>
            <a:r>
              <a:rPr lang="en-US" sz="1800">
                <a:ea typeface="+mn-lt"/>
                <a:cs typeface="+mn-lt"/>
              </a:rPr>
              <a:t>AUC: 0.972</a:t>
            </a:r>
            <a:endParaRPr lang="en-US"/>
          </a:p>
          <a:p>
            <a:pPr marL="285750" indent="-285750">
              <a:lnSpc>
                <a:spcPct val="70000"/>
              </a:lnSpc>
            </a:pPr>
            <a:r>
              <a:rPr lang="en-US" sz="1800">
                <a:ea typeface="+mn-lt"/>
                <a:cs typeface="+mn-lt"/>
              </a:rPr>
              <a:t>Recall (Late deliveries): 1.00</a:t>
            </a:r>
            <a:endParaRPr lang="en-US"/>
          </a:p>
          <a:p>
            <a:pPr marL="285750" indent="-285750">
              <a:lnSpc>
                <a:spcPct val="70000"/>
              </a:lnSpc>
            </a:pPr>
            <a:r>
              <a:rPr lang="en-US" sz="1800">
                <a:ea typeface="+mn-lt"/>
                <a:cs typeface="+mn-lt"/>
              </a:rPr>
              <a:t>Model is simple, interpretable, and fast.</a:t>
            </a:r>
            <a:endParaRPr lang="en-US"/>
          </a:p>
          <a:p>
            <a:pPr marL="0" indent="0">
              <a:lnSpc>
                <a:spcPct val="70000"/>
              </a:lnSpc>
              <a:buNone/>
            </a:pPr>
            <a:endParaRPr lang="en-US"/>
          </a:p>
          <a:p>
            <a:pPr marL="0" indent="0">
              <a:lnSpc>
                <a:spcPct val="70000"/>
              </a:lnSpc>
              <a:buNone/>
            </a:pPr>
            <a:r>
              <a:rPr lang="en-US" sz="1800" u="sng">
                <a:ea typeface="+mn-lt"/>
                <a:cs typeface="+mn-lt"/>
              </a:rPr>
              <a:t>Random Forest</a:t>
            </a:r>
            <a:endParaRPr lang="en-US"/>
          </a:p>
          <a:p>
            <a:pPr marL="285750" indent="-285750">
              <a:lnSpc>
                <a:spcPct val="70000"/>
              </a:lnSpc>
            </a:pPr>
            <a:r>
              <a:rPr lang="en-US" sz="1800">
                <a:ea typeface="+mn-lt"/>
                <a:cs typeface="+mn-lt"/>
              </a:rPr>
              <a:t>Accuracy: 97.46%</a:t>
            </a:r>
            <a:endParaRPr lang="en-US"/>
          </a:p>
          <a:p>
            <a:pPr marL="285750" indent="-285750">
              <a:lnSpc>
                <a:spcPct val="70000"/>
              </a:lnSpc>
            </a:pPr>
            <a:r>
              <a:rPr lang="en-US" sz="1800"/>
              <a:t>ROC–AUC: 0.979</a:t>
            </a:r>
            <a:endParaRPr lang="en-US"/>
          </a:p>
          <a:p>
            <a:pPr marL="285750" indent="-285750">
              <a:lnSpc>
                <a:spcPct val="70000"/>
              </a:lnSpc>
            </a:pPr>
            <a:r>
              <a:rPr lang="en-US" sz="1800">
                <a:ea typeface="+mn-lt"/>
                <a:cs typeface="+mn-lt"/>
              </a:rPr>
              <a:t>Recall (Late deliveries): 1.00</a:t>
            </a:r>
            <a:endParaRPr lang="en-US"/>
          </a:p>
          <a:p>
            <a:pPr marL="285750" indent="-285750">
              <a:lnSpc>
                <a:spcPct val="90000"/>
              </a:lnSpc>
            </a:pPr>
            <a:r>
              <a:rPr lang="en-US" sz="1800">
                <a:ea typeface="+mn-lt"/>
                <a:cs typeface="+mn-lt"/>
              </a:rPr>
              <a:t>Captures nonlinear patterns and interactions better.</a:t>
            </a:r>
            <a:endParaRPr lang="en-US"/>
          </a:p>
        </p:txBody>
      </p:sp>
      <p:pic>
        <p:nvPicPr>
          <p:cNvPr id="3" name="Picture 2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1B6E5D93-A69D-7AA4-5E2E-EE6862640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69" y="1605413"/>
            <a:ext cx="4390771" cy="364772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2555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37AC5-7DE3-DF2D-9A24-6CFD6A2A6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E126E4AA-A10D-B4B5-A52A-C6C7B51F3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95D47-9DA2-BDF7-6985-0C9FB480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CONCLUSION</a:t>
            </a:r>
          </a:p>
        </p:txBody>
      </p:sp>
      <p:pic>
        <p:nvPicPr>
          <p:cNvPr id="46" name="Picture 45" descr="Boxes and roller conveyor">
            <a:extLst>
              <a:ext uri="{FF2B5EF4-FFF2-40B4-BE49-F238E27FC236}">
                <a16:creationId xmlns:a16="http://schemas.microsoft.com/office/drawing/2014/main" id="{0885AA1E-7208-2D0A-624C-69AA6654ED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4" r="2734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B9E22624-1FAB-E567-CD0D-D2379504F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Late</a:t>
            </a:r>
            <a:r>
              <a:rPr lang="en-US" sz="1800">
                <a:ea typeface="+mn-lt"/>
                <a:cs typeface="+mn-lt"/>
              </a:rPr>
              <a:t> delivery risk is highly predictable using operational features.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Logistic Regression and Random Forest achieved &gt;97% accuracy.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Consistent findings across EDA, statistical testing, PCA, and modeling.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Provides actionable insights to improve delivery reliability.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90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Thank You Images – Browse 2,247,716 Stock Photos, Vectors ...">
            <a:extLst>
              <a:ext uri="{FF2B5EF4-FFF2-40B4-BE49-F238E27FC236}">
                <a16:creationId xmlns:a16="http://schemas.microsoft.com/office/drawing/2014/main" id="{9A71E699-6839-510A-BF6A-573699EE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00" r="15534"/>
          <a:stretch>
            <a:fillRect/>
          </a:stretch>
        </p:blipFill>
        <p:spPr>
          <a:xfrm>
            <a:off x="419099" y="406400"/>
            <a:ext cx="11353802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2994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VanillaVTI</vt:lpstr>
      <vt:lpstr>OPTIMIZING SUPPLY CHAIN AND SALES PERFORMANCE </vt:lpstr>
      <vt:lpstr>DATASET &amp; GITHUB</vt:lpstr>
      <vt:lpstr>INTRODUCTION</vt:lpstr>
      <vt:lpstr>DATASET OVERVIEW</vt:lpstr>
      <vt:lpstr>OBJECTIVE</vt:lpstr>
      <vt:lpstr>EXPLORATORY DATA ANALYSIS</vt:lpstr>
      <vt:lpstr>EXPLORATORY DATA ANALYSIS</vt:lpstr>
      <vt:lpstr>EXPLORATORY DATA ANALYSIS</vt:lpstr>
      <vt:lpstr>HYPOTHESIS TESTING</vt:lpstr>
      <vt:lpstr>HYPOTHESIS TESTING</vt:lpstr>
      <vt:lpstr>HYPOTHESIS TESTING</vt:lpstr>
      <vt:lpstr>PRINCIPAL COMPONENT ANALYSIS (PCA)</vt:lpstr>
      <vt:lpstr>LOGISTIC REGRESSION</vt:lpstr>
      <vt:lpstr>RANDOM FOREST CLASSIFIER</vt:lpstr>
      <vt:lpstr>MODEL COMPARISION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2025-11-30T19:47:06Z</dcterms:created>
  <dcterms:modified xsi:type="dcterms:W3CDTF">2025-12-02T20:36:37Z</dcterms:modified>
</cp:coreProperties>
</file>